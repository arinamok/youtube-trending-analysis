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6" r:id="rId6"/>
    <p:sldId id="269" r:id="rId7"/>
    <p:sldId id="267" r:id="rId8"/>
    <p:sldId id="270" r:id="rId9"/>
    <p:sldId id="271" r:id="rId10"/>
    <p:sldId id="268" r:id="rId11"/>
    <p:sldId id="273" r:id="rId12"/>
    <p:sldId id="272" r:id="rId13"/>
    <p:sldId id="265" r:id="rId14"/>
    <p:sldId id="27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64" d="100"/>
          <a:sy n="64" d="100"/>
        </p:scale>
        <p:origin x="5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2/19/2026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2/19/2026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2/19/2026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www.kaggle.com/datasets/datasnaek/youtube-new?resource=download&amp;select=USvideos.csv" TargetMode="External"/><Relationship Id="rId3" Type="http://schemas.openxmlformats.org/officeDocument/2006/relationships/hyperlink" Target="https://realpython.com/k-means-clustering-python/" TargetMode="External"/><Relationship Id="rId7" Type="http://schemas.openxmlformats.org/officeDocument/2006/relationships/hyperlink" Target="https://www.ibm.com/think/topics/linear-regression" TargetMode="External"/><Relationship Id="rId2" Type="http://schemas.openxmlformats.org/officeDocument/2006/relationships/hyperlink" Target="https://doi.org/10.7717/peerj-cs.1708" TargetMode="External"/><Relationship Id="rId1" Type="http://schemas.openxmlformats.org/officeDocument/2006/relationships/slideLayout" Target="../slideLayouts/slideLayout2.xml"/><Relationship Id="rId6" Type="http://schemas.openxmlformats.org/officeDocument/2006/relationships/hyperlink" Target="https://doi.org/10.3390/mps3040064" TargetMode="External"/><Relationship Id="rId5" Type="http://schemas.openxmlformats.org/officeDocument/2006/relationships/hyperlink" Target="https://www.pewresearch.org/internet/2024/12/12/teens-social-media-and-technology-2024/" TargetMode="External"/><Relationship Id="rId4" Type="http://schemas.openxmlformats.org/officeDocument/2006/relationships/hyperlink" Target="https://www.ibm.com/think/topics/classification-machine-learning" TargetMode="External"/><Relationship Id="rId9" Type="http://schemas.openxmlformats.org/officeDocument/2006/relationships/hyperlink" Target="https://www.ibm.com/think/topics/k-means-clustering"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doi.org/10.1007/s40745-022-00428-2" TargetMode="External"/><Relationship Id="rId3" Type="http://schemas.openxmlformats.org/officeDocument/2006/relationships/hyperlink" Target="https://www.sciencedirect.com/topics/computer-science/random-forest-classifier" TargetMode="External"/><Relationship Id="rId7" Type="http://schemas.openxmlformats.org/officeDocument/2006/relationships/hyperlink" Target="https://doi.org/10.1371/journal.pone.0267697" TargetMode="External"/><Relationship Id="rId2" Type="http://schemas.openxmlformats.org/officeDocument/2006/relationships/hyperlink" Target="https://doi.org/10.3390/jtaer20030197" TargetMode="External"/><Relationship Id="rId1" Type="http://schemas.openxmlformats.org/officeDocument/2006/relationships/slideLayout" Target="../slideLayouts/slideLayout2.xml"/><Relationship Id="rId6" Type="http://schemas.openxmlformats.org/officeDocument/2006/relationships/hyperlink" Target="https://realpython.com/linear-regression-in-python/" TargetMode="External"/><Relationship Id="rId5" Type="http://schemas.openxmlformats.org/officeDocument/2006/relationships/hyperlink" Target="https://pmc.ncbi.nlm.nih.gov/articles/PMC11537238/" TargetMode="External"/><Relationship Id="rId4" Type="http://schemas.openxmlformats.org/officeDocument/2006/relationships/hyperlink" Target="https://doi.org/10.3758/s13423-016-1174-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Isosceles Triangle 11">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lumMod val="75000"/>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ubtitle 2"/>
          <p:cNvSpPr>
            <a:spLocks noGrp="1"/>
          </p:cNvSpPr>
          <p:nvPr>
            <p:ph type="subTitle" idx="1"/>
          </p:nvPr>
        </p:nvSpPr>
        <p:spPr>
          <a:xfrm>
            <a:off x="1507067" y="4050833"/>
            <a:ext cx="7766936" cy="1096899"/>
          </a:xfrm>
        </p:spPr>
        <p:txBody>
          <a:bodyPr>
            <a:normAutofit/>
          </a:bodyPr>
          <a:lstStyle/>
          <a:p>
            <a:pPr>
              <a:lnSpc>
                <a:spcPct val="90000"/>
              </a:lnSpc>
            </a:pPr>
            <a:r>
              <a:rPr lang="en-US" b="1" i="1" dirty="0"/>
              <a:t>Arina Mokeeva</a:t>
            </a:r>
            <a:endParaRPr lang="en-US" dirty="0"/>
          </a:p>
        </p:txBody>
      </p:sp>
      <p:sp>
        <p:nvSpPr>
          <p:cNvPr id="2" name="Title 1"/>
          <p:cNvSpPr>
            <a:spLocks noGrp="1"/>
          </p:cNvSpPr>
          <p:nvPr>
            <p:ph type="ctrTitle"/>
          </p:nvPr>
        </p:nvSpPr>
        <p:spPr>
          <a:xfrm>
            <a:off x="1507067" y="1397000"/>
            <a:ext cx="7766936" cy="2653836"/>
          </a:xfrm>
        </p:spPr>
        <p:txBody>
          <a:bodyPr>
            <a:normAutofit/>
          </a:bodyPr>
          <a:lstStyle/>
          <a:p>
            <a:r>
              <a:rPr lang="en-US" dirty="0"/>
              <a:t>An Analysis of U.S. YouTube Trending Videos</a:t>
            </a:r>
          </a:p>
        </p:txBody>
      </p:sp>
      <p:sp>
        <p:nvSpPr>
          <p:cNvPr id="18"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75644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the Data Analysis</a:t>
            </a:r>
          </a:p>
        </p:txBody>
      </p:sp>
      <p:sp>
        <p:nvSpPr>
          <p:cNvPr id="3" name="Content Placeholder 2"/>
          <p:cNvSpPr>
            <a:spLocks noGrp="1"/>
          </p:cNvSpPr>
          <p:nvPr>
            <p:ph idx="1"/>
          </p:nvPr>
        </p:nvSpPr>
        <p:spPr>
          <a:xfrm>
            <a:off x="677334" y="1590261"/>
            <a:ext cx="8596668" cy="4562061"/>
          </a:xfrm>
        </p:spPr>
        <p:txBody>
          <a:bodyPr>
            <a:normAutofit/>
          </a:bodyPr>
          <a:lstStyle/>
          <a:p>
            <a:pPr marL="0" indent="0">
              <a:buNone/>
            </a:pPr>
            <a:r>
              <a:rPr lang="en-US" b="1" dirty="0"/>
              <a:t>Purpose: </a:t>
            </a:r>
          </a:p>
          <a:p>
            <a:pPr>
              <a:buFont typeface="Wingdings" panose="05000000000000000000" pitchFamily="2" charset="2"/>
              <a:buChar char="Ø"/>
            </a:pPr>
            <a:r>
              <a:rPr lang="en-US" dirty="0"/>
              <a:t>To understand what makes YouTube videos trend in the United States.</a:t>
            </a:r>
          </a:p>
          <a:p>
            <a:pPr marL="0" indent="0">
              <a:buNone/>
            </a:pPr>
            <a:endParaRPr lang="en-US" dirty="0"/>
          </a:p>
          <a:p>
            <a:pPr marL="0" indent="0">
              <a:buNone/>
            </a:pPr>
            <a:r>
              <a:rPr lang="en-US" b="1" dirty="0"/>
              <a:t>Goals:</a:t>
            </a:r>
          </a:p>
          <a:p>
            <a:r>
              <a:rPr lang="en-US" dirty="0"/>
              <a:t>Explore how engagement metrics like views, likes, and comments affect visibility.</a:t>
            </a:r>
          </a:p>
          <a:p>
            <a:r>
              <a:rPr lang="en-US" dirty="0"/>
              <a:t>Study how video categories, tags, and upload times play a role.</a:t>
            </a:r>
          </a:p>
          <a:p>
            <a:r>
              <a:rPr lang="en-US" dirty="0"/>
              <a:t>Find patterns that explain why certain videos gain attention faster.</a:t>
            </a:r>
          </a:p>
          <a:p>
            <a:pPr marL="0" indent="0">
              <a:buNone/>
            </a:pPr>
            <a:endParaRPr lang="en-US" b="1" dirty="0"/>
          </a:p>
          <a:p>
            <a:pPr marL="0" indent="0">
              <a:buNone/>
            </a:pPr>
            <a:r>
              <a:rPr lang="en-US" b="1" dirty="0"/>
              <a:t>Tools:</a:t>
            </a:r>
          </a:p>
          <a:p>
            <a:r>
              <a:rPr lang="en-US" dirty="0"/>
              <a:t>Python (Pandas, NumPy, Matplotlib, Seaborn)</a:t>
            </a:r>
          </a:p>
        </p:txBody>
      </p:sp>
    </p:spTree>
    <p:extLst>
      <p:ext uri="{BB962C8B-B14F-4D97-AF65-F5344CB8AC3E}">
        <p14:creationId xmlns:p14="http://schemas.microsoft.com/office/powerpoint/2010/main" val="2715645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Set Description</a:t>
            </a:r>
          </a:p>
        </p:txBody>
      </p:sp>
      <p:sp>
        <p:nvSpPr>
          <p:cNvPr id="3" name="Content Placeholder 2"/>
          <p:cNvSpPr>
            <a:spLocks noGrp="1"/>
          </p:cNvSpPr>
          <p:nvPr>
            <p:ph idx="1"/>
          </p:nvPr>
        </p:nvSpPr>
        <p:spPr>
          <a:xfrm>
            <a:off x="677334" y="1570383"/>
            <a:ext cx="8596668" cy="4678017"/>
          </a:xfrm>
        </p:spPr>
        <p:txBody>
          <a:bodyPr>
            <a:noAutofit/>
          </a:bodyPr>
          <a:lstStyle/>
          <a:p>
            <a:pPr marL="0" indent="0">
              <a:buNone/>
            </a:pPr>
            <a:r>
              <a:rPr lang="en-US" b="1" dirty="0"/>
              <a:t>Dataset:</a:t>
            </a:r>
          </a:p>
          <a:p>
            <a:r>
              <a:rPr lang="en-US" dirty="0"/>
              <a:t>USvideos.csv from Kaggle: Trending YouTube Video Statistics</a:t>
            </a:r>
          </a:p>
          <a:p>
            <a:pPr marL="0" indent="0">
              <a:buNone/>
            </a:pPr>
            <a:endParaRPr lang="en-US" b="1" dirty="0"/>
          </a:p>
          <a:p>
            <a:pPr marL="0" indent="0">
              <a:buNone/>
            </a:pPr>
            <a:r>
              <a:rPr lang="en-US" b="1" dirty="0"/>
              <a:t>Description:</a:t>
            </a:r>
          </a:p>
          <a:p>
            <a:r>
              <a:rPr lang="en-US" dirty="0"/>
              <a:t>Contains 40,949 rows and 16 columns</a:t>
            </a:r>
          </a:p>
          <a:p>
            <a:r>
              <a:rPr lang="en-US" dirty="0"/>
              <a:t>15,000 random rows will be used for faster processing</a:t>
            </a:r>
          </a:p>
          <a:p>
            <a:r>
              <a:rPr lang="en-US" dirty="0"/>
              <a:t>Focused on the US trending videos from 2017-2018</a:t>
            </a:r>
          </a:p>
          <a:p>
            <a:r>
              <a:rPr lang="en-US" dirty="0"/>
              <a:t>Data collected through the YouTube Data API</a:t>
            </a:r>
            <a:endParaRPr lang="en-US" b="1" dirty="0"/>
          </a:p>
          <a:p>
            <a:pPr marL="0" indent="0">
              <a:buNone/>
            </a:pPr>
            <a:r>
              <a:rPr lang="en-US" b="1" dirty="0"/>
              <a:t>Column Names:</a:t>
            </a:r>
          </a:p>
          <a:p>
            <a:r>
              <a:rPr lang="en-US" dirty="0"/>
              <a:t>Video ID, trending date, title, channel title, category ID, publish time, tags, views, likes, dislikes, comment count, thumbnail link, comments disabled, ratings disabled, video error or removed, and description.</a:t>
            </a:r>
          </a:p>
        </p:txBody>
      </p:sp>
    </p:spTree>
    <p:extLst>
      <p:ext uri="{BB962C8B-B14F-4D97-AF65-F5344CB8AC3E}">
        <p14:creationId xmlns:p14="http://schemas.microsoft.com/office/powerpoint/2010/main" val="1600908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the Data</a:t>
            </a:r>
          </a:p>
        </p:txBody>
      </p:sp>
      <p:sp>
        <p:nvSpPr>
          <p:cNvPr id="3" name="Content Placeholder 2"/>
          <p:cNvSpPr>
            <a:spLocks noGrp="1"/>
          </p:cNvSpPr>
          <p:nvPr>
            <p:ph idx="1"/>
          </p:nvPr>
        </p:nvSpPr>
        <p:spPr>
          <a:xfrm>
            <a:off x="677334" y="1606660"/>
            <a:ext cx="8596668" cy="4315433"/>
          </a:xfrm>
        </p:spPr>
        <p:txBody>
          <a:bodyPr/>
          <a:lstStyle/>
          <a:p>
            <a:pPr marL="0" indent="0">
              <a:buNone/>
            </a:pPr>
            <a:r>
              <a:rPr lang="en-US" b="1" dirty="0"/>
              <a:t>Structure:</a:t>
            </a:r>
          </a:p>
          <a:p>
            <a:r>
              <a:rPr lang="en-US" dirty="0"/>
              <a:t>8 string columns, 5 numeric columns, 3 Boolean columns</a:t>
            </a:r>
          </a:p>
          <a:p>
            <a:r>
              <a:rPr lang="en-US" dirty="0"/>
              <a:t>570 missing descriptions in total</a:t>
            </a:r>
          </a:p>
          <a:p>
            <a:r>
              <a:rPr lang="en-US" dirty="0"/>
              <a:t>193 missing descriptions in the 15,000-row dataset used for analysis</a:t>
            </a:r>
          </a:p>
          <a:p>
            <a:r>
              <a:rPr lang="en-US" dirty="0"/>
              <a:t>Dates were converted to standard daytime format</a:t>
            </a:r>
          </a:p>
          <a:p>
            <a:pPr marL="0" indent="0">
              <a:buNone/>
            </a:pPr>
            <a:endParaRPr lang="en-US" b="1" dirty="0"/>
          </a:p>
          <a:p>
            <a:pPr marL="0" indent="0">
              <a:buNone/>
            </a:pPr>
            <a:r>
              <a:rPr lang="en-US" b="1" dirty="0"/>
              <a:t>Focus Areas:</a:t>
            </a:r>
          </a:p>
          <a:p>
            <a:r>
              <a:rPr lang="en-US" dirty="0"/>
              <a:t>Relationship between views, likes, and comments</a:t>
            </a:r>
          </a:p>
          <a:p>
            <a:r>
              <a:rPr lang="en-US" dirty="0"/>
              <a:t>Top-performing video categories</a:t>
            </a:r>
          </a:p>
          <a:p>
            <a:r>
              <a:rPr lang="en-US" dirty="0"/>
              <a:t>Impact of upload time and tags on trending</a:t>
            </a:r>
          </a:p>
        </p:txBody>
      </p:sp>
    </p:spTree>
    <p:extLst>
      <p:ext uri="{BB962C8B-B14F-4D97-AF65-F5344CB8AC3E}">
        <p14:creationId xmlns:p14="http://schemas.microsoft.com/office/powerpoint/2010/main" val="4283897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E97BF-A80A-F606-1D13-00A222D0F74D}"/>
              </a:ext>
            </a:extLst>
          </p:cNvPr>
          <p:cNvSpPr>
            <a:spLocks noGrp="1"/>
          </p:cNvSpPr>
          <p:nvPr>
            <p:ph type="title"/>
          </p:nvPr>
        </p:nvSpPr>
        <p:spPr>
          <a:xfrm>
            <a:off x="677334" y="609600"/>
            <a:ext cx="8596668" cy="1320800"/>
          </a:xfrm>
        </p:spPr>
        <p:txBody>
          <a:bodyPr anchor="t">
            <a:normAutofit/>
          </a:bodyPr>
          <a:lstStyle/>
          <a:p>
            <a:r>
              <a:rPr lang="en-US" dirty="0"/>
              <a:t>Visualization 1: Scatter Plot</a:t>
            </a:r>
          </a:p>
        </p:txBody>
      </p:sp>
      <p:pic>
        <p:nvPicPr>
          <p:cNvPr id="4" name="Picture 3" descr="A diagram of a blue line with a red line&#10;&#10;AI-generated content may be incorrect.">
            <a:extLst>
              <a:ext uri="{FF2B5EF4-FFF2-40B4-BE49-F238E27FC236}">
                <a16:creationId xmlns:a16="http://schemas.microsoft.com/office/drawing/2014/main" id="{D857069A-6DFC-CF04-BC4F-D39E815B8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389893" y="1684792"/>
            <a:ext cx="5012580" cy="3746903"/>
          </a:xfrm>
          <a:prstGeom prst="rect">
            <a:avLst/>
          </a:prstGeom>
          <a:noFill/>
        </p:spPr>
      </p:pic>
      <p:sp>
        <p:nvSpPr>
          <p:cNvPr id="3" name="Content Placeholder 2">
            <a:extLst>
              <a:ext uri="{FF2B5EF4-FFF2-40B4-BE49-F238E27FC236}">
                <a16:creationId xmlns:a16="http://schemas.microsoft.com/office/drawing/2014/main" id="{5EBEAEF5-A22C-AA59-9FF4-28915A137397}"/>
              </a:ext>
            </a:extLst>
          </p:cNvPr>
          <p:cNvSpPr>
            <a:spLocks noGrp="1"/>
          </p:cNvSpPr>
          <p:nvPr>
            <p:ph idx="1"/>
          </p:nvPr>
        </p:nvSpPr>
        <p:spPr>
          <a:xfrm>
            <a:off x="5402473" y="1534762"/>
            <a:ext cx="4136168" cy="4292572"/>
          </a:xfrm>
        </p:spPr>
        <p:txBody>
          <a:bodyPr>
            <a:noAutofit/>
          </a:bodyPr>
          <a:lstStyle/>
          <a:p>
            <a:pPr>
              <a:lnSpc>
                <a:spcPct val="90000"/>
              </a:lnSpc>
            </a:pPr>
            <a:r>
              <a:rPr lang="en-US" sz="1600" dirty="0"/>
              <a:t>A scatter plot was used to examine the relationship between a video's popularity (Views) and audience response (Likes).</a:t>
            </a:r>
          </a:p>
          <a:p>
            <a:pPr>
              <a:lnSpc>
                <a:spcPct val="90000"/>
              </a:lnSpc>
            </a:pPr>
            <a:r>
              <a:rPr lang="en-US" sz="1600" dirty="0"/>
              <a:t>The primary trend shows that videos with higher views generally receive more likes, confirming a positive correlation between attention and engagement.</a:t>
            </a:r>
          </a:p>
          <a:p>
            <a:pPr>
              <a:lnSpc>
                <a:spcPct val="90000"/>
              </a:lnSpc>
            </a:pPr>
            <a:r>
              <a:rPr lang="en-US" sz="1600" dirty="0"/>
              <a:t>A logarithmic scale was applied to both axes to visualize the entire dataset without clustering, due to the extreme range of values.</a:t>
            </a:r>
          </a:p>
          <a:p>
            <a:pPr>
              <a:lnSpc>
                <a:spcPct val="90000"/>
              </a:lnSpc>
            </a:pPr>
            <a:r>
              <a:rPr lang="en-US" sz="1600" dirty="0"/>
              <a:t>Key Findings: Outliers included videos with high views but low likes (watched but not engaged) and low views but high likes (smaller, highly active audiences), showing varying engagement patterns.</a:t>
            </a:r>
          </a:p>
        </p:txBody>
      </p:sp>
    </p:spTree>
    <p:extLst>
      <p:ext uri="{BB962C8B-B14F-4D97-AF65-F5344CB8AC3E}">
        <p14:creationId xmlns:p14="http://schemas.microsoft.com/office/powerpoint/2010/main" val="3611717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7594F7-9A7B-25CC-001C-C75E6E083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354DB-4A1B-D8EC-08C0-2D857C88FB31}"/>
              </a:ext>
            </a:extLst>
          </p:cNvPr>
          <p:cNvSpPr>
            <a:spLocks noGrp="1"/>
          </p:cNvSpPr>
          <p:nvPr>
            <p:ph type="title"/>
          </p:nvPr>
        </p:nvSpPr>
        <p:spPr>
          <a:xfrm>
            <a:off x="677334" y="609600"/>
            <a:ext cx="8596668" cy="1320800"/>
          </a:xfrm>
        </p:spPr>
        <p:txBody>
          <a:bodyPr anchor="t">
            <a:normAutofit/>
          </a:bodyPr>
          <a:lstStyle/>
          <a:p>
            <a:r>
              <a:rPr lang="en-US" dirty="0"/>
              <a:t>Visualization 2: Box Plot</a:t>
            </a:r>
          </a:p>
        </p:txBody>
      </p:sp>
      <p:pic>
        <p:nvPicPr>
          <p:cNvPr id="4" name="Picture 3" descr="A graph of a chart&#10;&#10;AI-generated content may be incorrect.">
            <a:extLst>
              <a:ext uri="{FF2B5EF4-FFF2-40B4-BE49-F238E27FC236}">
                <a16:creationId xmlns:a16="http://schemas.microsoft.com/office/drawing/2014/main" id="{52EBD15B-D3BB-382E-C6F1-35C3637B8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379160" y="2129514"/>
            <a:ext cx="5002744" cy="2989138"/>
          </a:xfrm>
          <a:prstGeom prst="rect">
            <a:avLst/>
          </a:prstGeom>
          <a:noFill/>
        </p:spPr>
      </p:pic>
      <p:sp>
        <p:nvSpPr>
          <p:cNvPr id="3" name="Content Placeholder 2">
            <a:extLst>
              <a:ext uri="{FF2B5EF4-FFF2-40B4-BE49-F238E27FC236}">
                <a16:creationId xmlns:a16="http://schemas.microsoft.com/office/drawing/2014/main" id="{17F7D66B-6519-85AD-3DAB-A9AF34DD947E}"/>
              </a:ext>
            </a:extLst>
          </p:cNvPr>
          <p:cNvSpPr>
            <a:spLocks noGrp="1"/>
          </p:cNvSpPr>
          <p:nvPr>
            <p:ph idx="1"/>
          </p:nvPr>
        </p:nvSpPr>
        <p:spPr>
          <a:xfrm>
            <a:off x="5625547" y="1789044"/>
            <a:ext cx="4124739" cy="4552701"/>
          </a:xfrm>
        </p:spPr>
        <p:txBody>
          <a:bodyPr>
            <a:normAutofit/>
          </a:bodyPr>
          <a:lstStyle/>
          <a:p>
            <a:pPr>
              <a:lnSpc>
                <a:spcPct val="90000"/>
              </a:lnSpc>
            </a:pPr>
            <a:r>
              <a:rPr lang="en-US" sz="1600" dirty="0"/>
              <a:t>A box plot compared the distribution of video views across different categories, also using a logarithmic scale.</a:t>
            </a:r>
          </a:p>
          <a:p>
            <a:pPr>
              <a:lnSpc>
                <a:spcPct val="90000"/>
              </a:lnSpc>
            </a:pPr>
            <a:r>
              <a:rPr lang="en-US" sz="1600" dirty="0"/>
              <a:t>Categories show distinct differences, with some groups consistently achieving higher median views than others.</a:t>
            </a:r>
          </a:p>
          <a:p>
            <a:pPr>
              <a:lnSpc>
                <a:spcPct val="90000"/>
              </a:lnSpc>
            </a:pPr>
            <a:r>
              <a:rPr lang="en-US" sz="1600" dirty="0"/>
              <a:t>Performance is highly inconsistent. Even categories with lower median views frequently produced extreme outliers (viral videos).</a:t>
            </a:r>
          </a:p>
          <a:p>
            <a:pPr>
              <a:lnSpc>
                <a:spcPct val="90000"/>
              </a:lnSpc>
            </a:pPr>
            <a:r>
              <a:rPr lang="en-US" sz="1600" dirty="0"/>
              <a:t>Key Findings: Even videos in less popular categories can become massively viral.</a:t>
            </a:r>
          </a:p>
        </p:txBody>
      </p:sp>
    </p:spTree>
    <p:extLst>
      <p:ext uri="{BB962C8B-B14F-4D97-AF65-F5344CB8AC3E}">
        <p14:creationId xmlns:p14="http://schemas.microsoft.com/office/powerpoint/2010/main" val="3129183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0E15E-1D7F-73B3-612B-01836FB9B867}"/>
              </a:ext>
            </a:extLst>
          </p:cNvPr>
          <p:cNvSpPr>
            <a:spLocks noGrp="1"/>
          </p:cNvSpPr>
          <p:nvPr>
            <p:ph type="title"/>
          </p:nvPr>
        </p:nvSpPr>
        <p:spPr/>
        <p:txBody>
          <a:bodyPr/>
          <a:lstStyle/>
          <a:p>
            <a:r>
              <a:rPr lang="en-US" dirty="0"/>
              <a:t>Model 1: Linear Regression</a:t>
            </a:r>
          </a:p>
        </p:txBody>
      </p:sp>
      <p:sp>
        <p:nvSpPr>
          <p:cNvPr id="3" name="Content Placeholder 2">
            <a:extLst>
              <a:ext uri="{FF2B5EF4-FFF2-40B4-BE49-F238E27FC236}">
                <a16:creationId xmlns:a16="http://schemas.microsoft.com/office/drawing/2014/main" id="{F62ABF99-65E2-B9D0-E178-738AA1159753}"/>
              </a:ext>
            </a:extLst>
          </p:cNvPr>
          <p:cNvSpPr>
            <a:spLocks noGrp="1"/>
          </p:cNvSpPr>
          <p:nvPr>
            <p:ph idx="1"/>
          </p:nvPr>
        </p:nvSpPr>
        <p:spPr/>
        <p:txBody>
          <a:bodyPr/>
          <a:lstStyle/>
          <a:p>
            <a:r>
              <a:rPr lang="en-US" b="1" dirty="0"/>
              <a:t>Purpose: </a:t>
            </a:r>
            <a:r>
              <a:rPr lang="en-US" dirty="0"/>
              <a:t>To predict the time (in days) it takes for a video to appear on the trending list after publishing.</a:t>
            </a:r>
          </a:p>
          <a:p>
            <a:r>
              <a:rPr lang="en-US" dirty="0"/>
              <a:t>Target Variable: Time-to-Trend (Calculated as </a:t>
            </a:r>
            <a:r>
              <a:rPr lang="en-US" dirty="0" err="1"/>
              <a:t>trending_date</a:t>
            </a:r>
            <a:r>
              <a:rPr lang="en-US" dirty="0"/>
              <a:t> - </a:t>
            </a:r>
            <a:r>
              <a:rPr lang="en-US" dirty="0" err="1"/>
              <a:t>publish_time</a:t>
            </a:r>
            <a:r>
              <a:rPr lang="en-US" dirty="0"/>
              <a:t>).</a:t>
            </a:r>
          </a:p>
          <a:p>
            <a:r>
              <a:rPr lang="en-US" dirty="0"/>
              <a:t>Tested all available features, including numerical engagement metrics and categorical variables.</a:t>
            </a:r>
          </a:p>
          <a:p>
            <a:r>
              <a:rPr lang="en-US" dirty="0"/>
              <a:t>Result: The model determined that the category was the most influential variable, with engagement metrics having a negligible effect on trending speed.</a:t>
            </a:r>
          </a:p>
        </p:txBody>
      </p:sp>
    </p:spTree>
    <p:extLst>
      <p:ext uri="{BB962C8B-B14F-4D97-AF65-F5344CB8AC3E}">
        <p14:creationId xmlns:p14="http://schemas.microsoft.com/office/powerpoint/2010/main" val="3843092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22D06-AEED-0C23-75DF-984A799A1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69B24-6D83-11BC-C956-AE136B67604E}"/>
              </a:ext>
            </a:extLst>
          </p:cNvPr>
          <p:cNvSpPr>
            <a:spLocks noGrp="1"/>
          </p:cNvSpPr>
          <p:nvPr>
            <p:ph type="title"/>
          </p:nvPr>
        </p:nvSpPr>
        <p:spPr/>
        <p:txBody>
          <a:bodyPr/>
          <a:lstStyle/>
          <a:p>
            <a:r>
              <a:rPr lang="en-US" dirty="0"/>
              <a:t>Model 2: Random Forrest Classifier</a:t>
            </a:r>
          </a:p>
        </p:txBody>
      </p:sp>
      <p:sp>
        <p:nvSpPr>
          <p:cNvPr id="3" name="Content Placeholder 2">
            <a:extLst>
              <a:ext uri="{FF2B5EF4-FFF2-40B4-BE49-F238E27FC236}">
                <a16:creationId xmlns:a16="http://schemas.microsoft.com/office/drawing/2014/main" id="{3586E173-4769-E5CA-58F9-15E979D60A17}"/>
              </a:ext>
            </a:extLst>
          </p:cNvPr>
          <p:cNvSpPr>
            <a:spLocks noGrp="1"/>
          </p:cNvSpPr>
          <p:nvPr>
            <p:ph idx="1"/>
          </p:nvPr>
        </p:nvSpPr>
        <p:spPr/>
        <p:txBody>
          <a:bodyPr/>
          <a:lstStyle/>
          <a:p>
            <a:r>
              <a:rPr lang="en-US" b="1" dirty="0"/>
              <a:t>Purpose: </a:t>
            </a:r>
            <a:r>
              <a:rPr lang="en-US" dirty="0"/>
              <a:t>To predict whether a video will become highly viral. </a:t>
            </a:r>
          </a:p>
          <a:p>
            <a:r>
              <a:rPr lang="en-US" dirty="0"/>
              <a:t>Data Preparation: The target variable Virality was created by categorizing the top 10% of videos by view count as viral (1) and the rest as not viral (0).</a:t>
            </a:r>
          </a:p>
          <a:p>
            <a:r>
              <a:rPr lang="en-US" dirty="0"/>
              <a:t>Process: The Random Forest algorithm was trained to learn the decision rules for classifying videos into these two classes.</a:t>
            </a:r>
          </a:p>
          <a:p>
            <a:r>
              <a:rPr lang="en-US" dirty="0"/>
              <a:t>Result: The model achieved high accuracy (88.1%) and identified engagement metrics (views, likes, dislikes, comments) as the primary drivers of long-term virality.</a:t>
            </a:r>
          </a:p>
        </p:txBody>
      </p:sp>
    </p:spTree>
    <p:extLst>
      <p:ext uri="{BB962C8B-B14F-4D97-AF65-F5344CB8AC3E}">
        <p14:creationId xmlns:p14="http://schemas.microsoft.com/office/powerpoint/2010/main" val="2362085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B5032-5889-1E6D-7D53-A4BA858DC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1AB5D-E262-5057-2CE8-BCEE9085CB9A}"/>
              </a:ext>
            </a:extLst>
          </p:cNvPr>
          <p:cNvSpPr>
            <a:spLocks noGrp="1"/>
          </p:cNvSpPr>
          <p:nvPr>
            <p:ph type="title"/>
          </p:nvPr>
        </p:nvSpPr>
        <p:spPr/>
        <p:txBody>
          <a:bodyPr/>
          <a:lstStyle/>
          <a:p>
            <a:r>
              <a:rPr lang="en-US" dirty="0"/>
              <a:t>Model 3: K-Means Clustering</a:t>
            </a:r>
          </a:p>
        </p:txBody>
      </p:sp>
      <p:sp>
        <p:nvSpPr>
          <p:cNvPr id="3" name="Content Placeholder 2">
            <a:extLst>
              <a:ext uri="{FF2B5EF4-FFF2-40B4-BE49-F238E27FC236}">
                <a16:creationId xmlns:a16="http://schemas.microsoft.com/office/drawing/2014/main" id="{15F87116-8D78-B62C-8B83-28C99A29E6AA}"/>
              </a:ext>
            </a:extLst>
          </p:cNvPr>
          <p:cNvSpPr>
            <a:spLocks noGrp="1"/>
          </p:cNvSpPr>
          <p:nvPr>
            <p:ph idx="1"/>
          </p:nvPr>
        </p:nvSpPr>
        <p:spPr/>
        <p:txBody>
          <a:bodyPr>
            <a:normAutofit/>
          </a:bodyPr>
          <a:lstStyle/>
          <a:p>
            <a:r>
              <a:rPr lang="en-US" b="1" dirty="0"/>
              <a:t>Purpose: </a:t>
            </a:r>
            <a:r>
              <a:rPr lang="en-US" dirty="0"/>
              <a:t>To identify natural groupings or segments of audience behavior within the trending videos. </a:t>
            </a:r>
          </a:p>
          <a:p>
            <a:r>
              <a:rPr lang="en-US" dirty="0"/>
              <a:t>Data Preparation: Used only the key audience engagement metrics: views, likes, dislikes, and comment count.</a:t>
            </a:r>
          </a:p>
          <a:p>
            <a:r>
              <a:rPr lang="en-US" dirty="0"/>
              <a:t>Clustering: The Elbow Method was used to determine the optimal number of groups (k=4).</a:t>
            </a:r>
          </a:p>
          <a:p>
            <a:r>
              <a:rPr lang="en-US" dirty="0"/>
              <a:t>Grouping: The algorithm partitioned the videos into four clusters based on the similarity of their engagement features.</a:t>
            </a:r>
          </a:p>
          <a:p>
            <a:r>
              <a:rPr lang="en-US" dirty="0"/>
              <a:t>Result: This revealed that both positive success (Likes) and highly active, polarizing content (Dislikes + Comments) are pathways to trending success.</a:t>
            </a:r>
          </a:p>
        </p:txBody>
      </p:sp>
    </p:spTree>
    <p:extLst>
      <p:ext uri="{BB962C8B-B14F-4D97-AF65-F5344CB8AC3E}">
        <p14:creationId xmlns:p14="http://schemas.microsoft.com/office/powerpoint/2010/main" val="2974622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64520-9151-D137-2795-5115DA22C743}"/>
              </a:ext>
            </a:extLst>
          </p:cNvPr>
          <p:cNvSpPr>
            <a:spLocks noGrp="1"/>
          </p:cNvSpPr>
          <p:nvPr>
            <p:ph type="title"/>
          </p:nvPr>
        </p:nvSpPr>
        <p:spPr/>
        <p:txBody>
          <a:bodyPr/>
          <a:lstStyle/>
          <a:p>
            <a:r>
              <a:rPr lang="en-US" dirty="0"/>
              <a:t>Findings</a:t>
            </a:r>
          </a:p>
        </p:txBody>
      </p:sp>
      <p:sp>
        <p:nvSpPr>
          <p:cNvPr id="3" name="Content Placeholder 2">
            <a:extLst>
              <a:ext uri="{FF2B5EF4-FFF2-40B4-BE49-F238E27FC236}">
                <a16:creationId xmlns:a16="http://schemas.microsoft.com/office/drawing/2014/main" id="{CFB95DAB-0C1A-71B8-56A8-5D38E24A1036}"/>
              </a:ext>
            </a:extLst>
          </p:cNvPr>
          <p:cNvSpPr>
            <a:spLocks noGrp="1"/>
          </p:cNvSpPr>
          <p:nvPr>
            <p:ph idx="1"/>
          </p:nvPr>
        </p:nvSpPr>
        <p:spPr>
          <a:xfrm>
            <a:off x="677334" y="1930401"/>
            <a:ext cx="8596668" cy="4110962"/>
          </a:xfrm>
        </p:spPr>
        <p:txBody>
          <a:bodyPr>
            <a:normAutofit/>
          </a:bodyPr>
          <a:lstStyle/>
          <a:p>
            <a:r>
              <a:rPr lang="en-US" dirty="0"/>
              <a:t>Speed to trend, reaching the list quickly, is dictated by the video category.</a:t>
            </a:r>
          </a:p>
          <a:p>
            <a:r>
              <a:rPr lang="en-US" dirty="0"/>
              <a:t>Virality, becoming a top 10% video, is dictated by audience engagement metrics.</a:t>
            </a:r>
          </a:p>
          <a:p>
            <a:r>
              <a:rPr lang="en-US" dirty="0"/>
              <a:t>Categories like News &amp; Politics, Nonprofits &amp; Activism, and Travel &amp; Events trend significantly faster than others.</a:t>
            </a:r>
          </a:p>
          <a:p>
            <a:r>
              <a:rPr lang="en-US" dirty="0"/>
              <a:t>The Random Forest model proved that the volume of views, likes, and comments are the most important features in classifying a video as truly viral.</a:t>
            </a:r>
          </a:p>
          <a:p>
            <a:r>
              <a:rPr lang="en-US" dirty="0"/>
              <a:t>K-Means Cluster 3 was characterized by the highest average dislikes and the highest comment volume.</a:t>
            </a:r>
          </a:p>
          <a:p>
            <a:r>
              <a:rPr lang="en-US" dirty="0"/>
              <a:t>Highly polarizing content generates intense discussion and reaction. The algorithm promotes this active engagement, confirming that content success is not limited to universally positive sentiment.</a:t>
            </a:r>
          </a:p>
        </p:txBody>
      </p:sp>
    </p:spTree>
    <p:extLst>
      <p:ext uri="{BB962C8B-B14F-4D97-AF65-F5344CB8AC3E}">
        <p14:creationId xmlns:p14="http://schemas.microsoft.com/office/powerpoint/2010/main" val="3292432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D6ACB-612D-D4CE-2FC2-153CA0FF2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21E2B-7237-91A4-3088-EEAD70718F6E}"/>
              </a:ext>
            </a:extLst>
          </p:cNvPr>
          <p:cNvSpPr>
            <a:spLocks noGrp="1"/>
          </p:cNvSpPr>
          <p:nvPr>
            <p:ph type="title"/>
          </p:nvPr>
        </p:nvSpPr>
        <p:spPr/>
        <p:txBody>
          <a:bodyPr/>
          <a:lstStyle/>
          <a:p>
            <a:r>
              <a:rPr lang="en-US" dirty="0"/>
              <a:t>Action Steps Based on Findings</a:t>
            </a:r>
          </a:p>
        </p:txBody>
      </p:sp>
      <p:sp>
        <p:nvSpPr>
          <p:cNvPr id="3" name="Content Placeholder 2">
            <a:extLst>
              <a:ext uri="{FF2B5EF4-FFF2-40B4-BE49-F238E27FC236}">
                <a16:creationId xmlns:a16="http://schemas.microsoft.com/office/drawing/2014/main" id="{8D2E56F4-06EE-F092-EEC1-8BE292A8103D}"/>
              </a:ext>
            </a:extLst>
          </p:cNvPr>
          <p:cNvSpPr>
            <a:spLocks noGrp="1"/>
          </p:cNvSpPr>
          <p:nvPr>
            <p:ph idx="1"/>
          </p:nvPr>
        </p:nvSpPr>
        <p:spPr>
          <a:xfrm>
            <a:off x="677334" y="1930401"/>
            <a:ext cx="8596668" cy="4110962"/>
          </a:xfrm>
        </p:spPr>
        <p:txBody>
          <a:bodyPr>
            <a:normAutofit/>
          </a:bodyPr>
          <a:lstStyle/>
          <a:p>
            <a:r>
              <a:rPr lang="en-US" dirty="0"/>
              <a:t>To create a trending video fast, choose fast-moving categories like News and Politics for quick trending, but rely on strong engagement for long-term virality.</a:t>
            </a:r>
          </a:p>
          <a:p>
            <a:r>
              <a:rPr lang="en-US" dirty="0"/>
              <a:t>Focus on video design and description to maximize user feedback such as likes, dislikes, and comments, since this drives the most algorithmic promotion.</a:t>
            </a:r>
          </a:p>
          <a:p>
            <a:r>
              <a:rPr lang="en-US" dirty="0"/>
              <a:t>Know that highly polarizing topics create large discussion. Use this strategy where appropriate, as controversy leads to the highest engagement cluster.</a:t>
            </a:r>
          </a:p>
          <a:p>
            <a:r>
              <a:rPr lang="en-US" dirty="0"/>
              <a:t>For videos in lower-average view categories, invest disproportionately in marketing and initial interaction to achieve viral outlier status.</a:t>
            </a:r>
          </a:p>
          <a:p>
            <a:r>
              <a:rPr lang="en-US" dirty="0"/>
              <a:t>Conduct future analysis to identify the optimal publish times and specific sub-topics within the fastest-trending categories to gain a strategic advantage.</a:t>
            </a:r>
          </a:p>
        </p:txBody>
      </p:sp>
    </p:spTree>
    <p:extLst>
      <p:ext uri="{BB962C8B-B14F-4D97-AF65-F5344CB8AC3E}">
        <p14:creationId xmlns:p14="http://schemas.microsoft.com/office/powerpoint/2010/main" val="3136025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77A7-A9BB-D964-3CB0-F05AD938EB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0EA2C-3EB2-5A13-9063-E7B80FEA3007}"/>
              </a:ext>
            </a:extLst>
          </p:cNvPr>
          <p:cNvSpPr>
            <a:spLocks noGrp="1"/>
          </p:cNvSpPr>
          <p:nvPr>
            <p:ph type="title"/>
          </p:nvPr>
        </p:nvSpPr>
        <p:spPr/>
        <p:txBody>
          <a:bodyPr/>
          <a:lstStyle/>
          <a:p>
            <a:r>
              <a:rPr lang="en-US" dirty="0"/>
              <a:t>Lessons Learned</a:t>
            </a:r>
          </a:p>
        </p:txBody>
      </p:sp>
      <p:sp>
        <p:nvSpPr>
          <p:cNvPr id="3" name="Content Placeholder 2">
            <a:extLst>
              <a:ext uri="{FF2B5EF4-FFF2-40B4-BE49-F238E27FC236}">
                <a16:creationId xmlns:a16="http://schemas.microsoft.com/office/drawing/2014/main" id="{F595C8CF-39D2-E8DA-9DB7-A730B470C12D}"/>
              </a:ext>
            </a:extLst>
          </p:cNvPr>
          <p:cNvSpPr>
            <a:spLocks noGrp="1"/>
          </p:cNvSpPr>
          <p:nvPr>
            <p:ph idx="1"/>
          </p:nvPr>
        </p:nvSpPr>
        <p:spPr>
          <a:xfrm>
            <a:off x="677334" y="1630017"/>
            <a:ext cx="8596668" cy="4411346"/>
          </a:xfrm>
        </p:spPr>
        <p:txBody>
          <a:bodyPr>
            <a:normAutofit lnSpcReduction="10000"/>
          </a:bodyPr>
          <a:lstStyle/>
          <a:p>
            <a:r>
              <a:rPr lang="en-US" dirty="0"/>
              <a:t>The most time-consuming and critical task was converting raw date and time columns into standardized datetime formats to accurately calculate time-to-trend. This was essential before any time-series analysis could begin.</a:t>
            </a:r>
          </a:p>
          <a:p>
            <a:r>
              <a:rPr lang="en-US" dirty="0"/>
              <a:t>The extreme right-skewness of engagement data, with viral outliers, meant standard visualizations were ineffective. Using a logarithmic scale was necessary to reveal true patterns and differences between categories that would have otherwise been hidden.</a:t>
            </a:r>
          </a:p>
          <a:p>
            <a:r>
              <a:rPr lang="en-US" dirty="0"/>
              <a:t>The raw tags column, containing pipe separators and special characters, required specific string manipulation techniques to clean and extract usable features. This underscored the importance of text cleaning when working with social media data.</a:t>
            </a:r>
          </a:p>
          <a:p>
            <a:r>
              <a:rPr lang="en-US" dirty="0"/>
              <a:t>The analysis confirmed that success is not limited to universally positive interaction. The discovery of a highly engaged, controversial audience segment (high dislikes/comments) demonstrated that high interaction, regardless of sentiment, drives algorithmic promotion.</a:t>
            </a:r>
          </a:p>
        </p:txBody>
      </p:sp>
    </p:spTree>
    <p:extLst>
      <p:ext uri="{BB962C8B-B14F-4D97-AF65-F5344CB8AC3E}">
        <p14:creationId xmlns:p14="http://schemas.microsoft.com/office/powerpoint/2010/main" val="4215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816638"/>
            <a:ext cx="8596668" cy="1320800"/>
          </a:xfrm>
        </p:spPr>
        <p:txBody>
          <a:bodyPr/>
          <a:lstStyle/>
          <a:p>
            <a:r>
              <a:rPr lang="en-US" dirty="0"/>
              <a:t>References</a:t>
            </a:r>
          </a:p>
        </p:txBody>
      </p:sp>
      <p:sp>
        <p:nvSpPr>
          <p:cNvPr id="3" name="Content Placeholder 2"/>
          <p:cNvSpPr>
            <a:spLocks noGrp="1"/>
          </p:cNvSpPr>
          <p:nvPr>
            <p:ph idx="1"/>
          </p:nvPr>
        </p:nvSpPr>
        <p:spPr>
          <a:xfrm>
            <a:off x="677334" y="1699591"/>
            <a:ext cx="8596668" cy="4780722"/>
          </a:xfrm>
        </p:spPr>
        <p:txBody>
          <a:bodyPr>
            <a:normAutofit fontScale="55000" lnSpcReduction="20000"/>
          </a:bodyPr>
          <a:lstStyle/>
          <a:p>
            <a:r>
              <a:rPr lang="en-US" sz="2500" dirty="0"/>
              <a:t>Abdullah, S., &amp; Eid, H. F. (2023). Utilizing random forest algorithm for early detection of academic underperformance in open learning environments. </a:t>
            </a:r>
            <a:r>
              <a:rPr lang="es-ES" sz="2500" i="1" dirty="0" err="1"/>
              <a:t>PeerJ</a:t>
            </a:r>
            <a:r>
              <a:rPr lang="es-ES" sz="2500" dirty="0"/>
              <a:t>, </a:t>
            </a:r>
            <a:r>
              <a:rPr lang="es-ES" sz="2500" i="1" dirty="0"/>
              <a:t>9</a:t>
            </a:r>
            <a:r>
              <a:rPr lang="es-ES" sz="2500" dirty="0"/>
              <a:t>, e1708–e1708. </a:t>
            </a:r>
            <a:r>
              <a:rPr lang="es-ES" sz="2500" dirty="0">
                <a:hlinkClick r:id="rId2"/>
              </a:rPr>
              <a:t>https://doi.org/10.7717/peerj-cs.1708</a:t>
            </a:r>
            <a:r>
              <a:rPr lang="es-ES" sz="2500" dirty="0"/>
              <a:t> </a:t>
            </a:r>
            <a:endParaRPr lang="en-US" sz="2500" dirty="0"/>
          </a:p>
          <a:p>
            <a:r>
              <a:rPr lang="es-ES" sz="2500" dirty="0" err="1"/>
              <a:t>Arvai</a:t>
            </a:r>
            <a:r>
              <a:rPr lang="es-ES" sz="2500" dirty="0"/>
              <a:t>, K. (2020). </a:t>
            </a:r>
            <a:r>
              <a:rPr lang="en-US" sz="2500" i="1" dirty="0"/>
              <a:t>K-Means Clustering in Python: A Practical Guide</a:t>
            </a:r>
            <a:r>
              <a:rPr lang="en-US" sz="2500" dirty="0"/>
              <a:t>. Realpython.com. </a:t>
            </a:r>
            <a:r>
              <a:rPr lang="en-US" sz="2500" dirty="0">
                <a:hlinkClick r:id="rId3"/>
              </a:rPr>
              <a:t>https://realpython.com/k-means-clustering-python/</a:t>
            </a:r>
            <a:r>
              <a:rPr lang="en-US" sz="2500" dirty="0"/>
              <a:t> </a:t>
            </a:r>
          </a:p>
          <a:p>
            <a:r>
              <a:rPr lang="en-US" sz="2500" dirty="0"/>
              <a:t>Belcic, I. (2024, October 15). </a:t>
            </a:r>
            <a:r>
              <a:rPr lang="en-US" sz="2500" i="1" dirty="0"/>
              <a:t>Classification in Machine Learning</a:t>
            </a:r>
            <a:r>
              <a:rPr lang="en-US" sz="2500" dirty="0"/>
              <a:t>. Ibm.com. </a:t>
            </a:r>
            <a:r>
              <a:rPr lang="en-US" sz="2500" dirty="0">
                <a:hlinkClick r:id="rId4"/>
              </a:rPr>
              <a:t>https://www.ibm.com/think/topics/classification-machine-learning</a:t>
            </a:r>
            <a:r>
              <a:rPr lang="en-US" sz="2500" dirty="0"/>
              <a:t> </a:t>
            </a:r>
          </a:p>
          <a:p>
            <a:r>
              <a:rPr lang="es-ES" sz="2500" dirty="0" err="1"/>
              <a:t>Faverio</a:t>
            </a:r>
            <a:r>
              <a:rPr lang="es-ES" sz="2500" dirty="0"/>
              <a:t>, M., &amp; </a:t>
            </a:r>
            <a:r>
              <a:rPr lang="es-ES" sz="2500" dirty="0" err="1"/>
              <a:t>Sidoti</a:t>
            </a:r>
            <a:r>
              <a:rPr lang="es-ES" sz="2500" dirty="0"/>
              <a:t>, O. (2024, </a:t>
            </a:r>
            <a:r>
              <a:rPr lang="es-ES" sz="2500" dirty="0" err="1"/>
              <a:t>December</a:t>
            </a:r>
            <a:r>
              <a:rPr lang="es-ES" sz="2500" dirty="0"/>
              <a:t> 12). </a:t>
            </a:r>
            <a:r>
              <a:rPr lang="en-US" sz="2500" i="1" dirty="0"/>
              <a:t>Teens, Social Media and Technology 2024</a:t>
            </a:r>
            <a:r>
              <a:rPr lang="en-US" sz="2500" dirty="0"/>
              <a:t>. Pew Research Center; Pew Research Center. </a:t>
            </a:r>
            <a:r>
              <a:rPr lang="en-US" sz="2500" dirty="0">
                <a:hlinkClick r:id="rId5"/>
              </a:rPr>
              <a:t>https://www.pewresearch.org/internet/2024/12/12/teens-social-media-and-technology-2024/</a:t>
            </a:r>
            <a:r>
              <a:rPr lang="en-US" sz="2500" dirty="0"/>
              <a:t> </a:t>
            </a:r>
          </a:p>
          <a:p>
            <a:r>
              <a:rPr lang="en-US" sz="2500" dirty="0"/>
              <a:t>Hu, K. (2020). Become Competent within One Day in Generating Boxplots and Violin Plots for a Novice without Prior R Experience. </a:t>
            </a:r>
            <a:r>
              <a:rPr lang="en-US" sz="2500" i="1" dirty="0"/>
              <a:t>Methods and Protocols</a:t>
            </a:r>
            <a:r>
              <a:rPr lang="en-US" sz="2500" dirty="0"/>
              <a:t>, </a:t>
            </a:r>
            <a:r>
              <a:rPr lang="en-US" sz="2500" i="1" dirty="0"/>
              <a:t>3</a:t>
            </a:r>
            <a:r>
              <a:rPr lang="en-US" sz="2500" dirty="0"/>
              <a:t>(4). </a:t>
            </a:r>
            <a:r>
              <a:rPr lang="en-US" sz="2500" dirty="0">
                <a:hlinkClick r:id="rId6"/>
              </a:rPr>
              <a:t>https://doi.org/10.3390/mps3040064</a:t>
            </a:r>
            <a:r>
              <a:rPr lang="en-US" sz="2500" dirty="0"/>
              <a:t> </a:t>
            </a:r>
          </a:p>
          <a:p>
            <a:r>
              <a:rPr lang="en-US" sz="2500" dirty="0"/>
              <a:t>IBM. (2021, August 18). </a:t>
            </a:r>
            <a:r>
              <a:rPr lang="en-US" sz="2500" i="1" dirty="0"/>
              <a:t>Linear Regression</a:t>
            </a:r>
            <a:r>
              <a:rPr lang="en-US" sz="2500" dirty="0"/>
              <a:t>. Ibm.com; IBM. </a:t>
            </a:r>
            <a:r>
              <a:rPr lang="en-US" sz="2500" dirty="0">
                <a:hlinkClick r:id="rId7"/>
              </a:rPr>
              <a:t>https://www.ibm.com/think/topics/linear-regression</a:t>
            </a:r>
            <a:r>
              <a:rPr lang="en-US" sz="2500" dirty="0"/>
              <a:t> </a:t>
            </a:r>
          </a:p>
          <a:p>
            <a:r>
              <a:rPr lang="en-US" sz="2500" dirty="0"/>
              <a:t>J, M. (2017). </a:t>
            </a:r>
            <a:r>
              <a:rPr lang="en-US" sz="2500" i="1" dirty="0"/>
              <a:t>Trending YouTube Video Statistics</a:t>
            </a:r>
            <a:r>
              <a:rPr lang="en-US" sz="2500" dirty="0"/>
              <a:t>. Kaggle.com. </a:t>
            </a:r>
            <a:r>
              <a:rPr lang="en-US" sz="2500" dirty="0">
                <a:hlinkClick r:id="rId8"/>
              </a:rPr>
              <a:t>https://www.kaggle.com/datasets/datasnaek/youtube-new?resource=download&amp;select=USvideos.csv</a:t>
            </a:r>
            <a:r>
              <a:rPr lang="en-US" sz="2500" dirty="0"/>
              <a:t> </a:t>
            </a:r>
          </a:p>
          <a:p>
            <a:r>
              <a:rPr lang="en-US" sz="2500" dirty="0" err="1"/>
              <a:t>Kavlakoglu</a:t>
            </a:r>
            <a:r>
              <a:rPr lang="en-US" sz="2500" dirty="0"/>
              <a:t>, E., &amp; Winland, V. (2024, June 26). </a:t>
            </a:r>
            <a:r>
              <a:rPr lang="en-US" sz="2500" i="1" dirty="0"/>
              <a:t>What is k-means clustering?</a:t>
            </a:r>
            <a:r>
              <a:rPr lang="en-US" sz="2500" dirty="0"/>
              <a:t> IBM. </a:t>
            </a:r>
            <a:r>
              <a:rPr lang="en-US" sz="2500" dirty="0">
                <a:hlinkClick r:id="rId9"/>
              </a:rPr>
              <a:t>https://www.ibm.com/think/topics/k-means-clustering</a:t>
            </a:r>
            <a:r>
              <a:rPr lang="en-US" sz="2500" dirty="0"/>
              <a:t> </a:t>
            </a:r>
          </a:p>
          <a:p>
            <a:endParaRPr lang="en-US" dirty="0"/>
          </a:p>
        </p:txBody>
      </p:sp>
    </p:spTree>
    <p:extLst>
      <p:ext uri="{BB962C8B-B14F-4D97-AF65-F5344CB8AC3E}">
        <p14:creationId xmlns:p14="http://schemas.microsoft.com/office/powerpoint/2010/main" val="2377974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2CC77-F9BA-86C8-E53E-51436C68F4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27331B-DC4E-40E9-6C01-15EA011CFBAD}"/>
              </a:ext>
            </a:extLst>
          </p:cNvPr>
          <p:cNvSpPr>
            <a:spLocks noGrp="1"/>
          </p:cNvSpPr>
          <p:nvPr>
            <p:ph idx="1"/>
          </p:nvPr>
        </p:nvSpPr>
        <p:spPr>
          <a:xfrm>
            <a:off x="677334" y="1699591"/>
            <a:ext cx="8596668" cy="4341771"/>
          </a:xfrm>
        </p:spPr>
        <p:txBody>
          <a:bodyPr>
            <a:normAutofit fontScale="77500" lnSpcReduction="20000"/>
          </a:bodyPr>
          <a:lstStyle/>
          <a:p>
            <a:r>
              <a:rPr lang="en-US" dirty="0"/>
              <a:t>Oh, M., Maeng, K., &amp; Shin, J. (2025). Which Factors Affect Online Video Views and Subscriptions? Reference-Dependent Consumer Preferences in the Social Media Market. </a:t>
            </a:r>
            <a:r>
              <a:rPr lang="en-US" i="1" dirty="0"/>
              <a:t>Journal of Theoretical and Applied Electronic Commerce Research</a:t>
            </a:r>
            <a:r>
              <a:rPr lang="en-US" dirty="0"/>
              <a:t>, </a:t>
            </a:r>
            <a:r>
              <a:rPr lang="en-US" i="1" dirty="0"/>
              <a:t>20</a:t>
            </a:r>
            <a:r>
              <a:rPr lang="en-US" dirty="0"/>
              <a:t>(3), 197–197. </a:t>
            </a:r>
            <a:r>
              <a:rPr lang="en-US" dirty="0">
                <a:hlinkClick r:id="rId2"/>
              </a:rPr>
              <a:t>https://doi.org/10.3390/jtaer20030197</a:t>
            </a:r>
            <a:r>
              <a:rPr lang="en-US" dirty="0"/>
              <a:t> </a:t>
            </a:r>
          </a:p>
          <a:p>
            <a:r>
              <a:rPr lang="en-US" dirty="0"/>
              <a:t>Pan, Q., Agarwal, S., Nissim, N., &amp; </a:t>
            </a:r>
            <a:r>
              <a:rPr lang="en-US" dirty="0" err="1"/>
              <a:t>Sabut</a:t>
            </a:r>
            <a:r>
              <a:rPr lang="en-US" dirty="0"/>
              <a:t>, S. K. (2025). </a:t>
            </a:r>
            <a:r>
              <a:rPr lang="en-US" i="1" dirty="0"/>
              <a:t>Random Forest Classifier - an overview | ScienceDirect Topics</a:t>
            </a:r>
            <a:r>
              <a:rPr lang="en-US" dirty="0"/>
              <a:t>. </a:t>
            </a:r>
            <a:r>
              <a:rPr lang="es-ES" dirty="0"/>
              <a:t>Www.sciencedirect.com. </a:t>
            </a:r>
            <a:r>
              <a:rPr lang="es-ES" dirty="0">
                <a:hlinkClick r:id="rId3"/>
              </a:rPr>
              <a:t>https://www.sciencedirect.com/topics/computer-science/random-forest-classifier</a:t>
            </a:r>
            <a:r>
              <a:rPr lang="es-ES" dirty="0"/>
              <a:t> </a:t>
            </a:r>
            <a:endParaRPr lang="en-US" dirty="0"/>
          </a:p>
          <a:p>
            <a:r>
              <a:rPr lang="en-US" dirty="0"/>
              <a:t>Rensink, R. A. (2017). The nature of correlation perception in scatterplots. </a:t>
            </a:r>
            <a:r>
              <a:rPr lang="en-US" i="1" dirty="0"/>
              <a:t>Psychonomic Bulletin &amp; Review</a:t>
            </a:r>
            <a:r>
              <a:rPr lang="en-US" dirty="0"/>
              <a:t>, </a:t>
            </a:r>
            <a:r>
              <a:rPr lang="en-US" i="1" dirty="0"/>
              <a:t>24</a:t>
            </a:r>
            <a:r>
              <a:rPr lang="en-US" dirty="0"/>
              <a:t>(3), 776–797. </a:t>
            </a:r>
            <a:r>
              <a:rPr lang="en-US" dirty="0">
                <a:hlinkClick r:id="rId4"/>
              </a:rPr>
              <a:t>https://doi.org/10.3758/s13423-016-1174-7</a:t>
            </a:r>
            <a:r>
              <a:rPr lang="en-US" dirty="0"/>
              <a:t> </a:t>
            </a:r>
          </a:p>
          <a:p>
            <a:r>
              <a:rPr lang="en-US" dirty="0"/>
              <a:t>Roustaei, N. (2024). Application and interpretation of linear-regression analysis. </a:t>
            </a:r>
            <a:r>
              <a:rPr lang="en-US" i="1" dirty="0"/>
              <a:t>Medical Hypothesis Discovery &amp; Innovation in Ophthalmology</a:t>
            </a:r>
            <a:r>
              <a:rPr lang="en-US" dirty="0"/>
              <a:t>, </a:t>
            </a:r>
            <a:r>
              <a:rPr lang="en-US" i="1" dirty="0"/>
              <a:t>13</a:t>
            </a:r>
            <a:r>
              <a:rPr lang="en-US" dirty="0"/>
              <a:t>(3), 151–159. </a:t>
            </a:r>
            <a:r>
              <a:rPr lang="en-US" dirty="0">
                <a:hlinkClick r:id="rId5"/>
              </a:rPr>
              <a:t>https://pmc.ncbi.nlm.nih.gov/articles/PMC11537238/</a:t>
            </a:r>
            <a:r>
              <a:rPr lang="en-US" dirty="0"/>
              <a:t> </a:t>
            </a:r>
          </a:p>
          <a:p>
            <a:r>
              <a:rPr lang="en-US" dirty="0" err="1"/>
              <a:t>Stojiljković</a:t>
            </a:r>
            <a:r>
              <a:rPr lang="en-US" dirty="0"/>
              <a:t>, M. (2019, April 15). </a:t>
            </a:r>
            <a:r>
              <a:rPr lang="en-US" i="1" dirty="0"/>
              <a:t>Linear Regression in Python</a:t>
            </a:r>
            <a:r>
              <a:rPr lang="en-US" dirty="0"/>
              <a:t>. Realpython.com; Real Python. </a:t>
            </a:r>
            <a:r>
              <a:rPr lang="en-US" dirty="0">
                <a:hlinkClick r:id="rId6"/>
              </a:rPr>
              <a:t>https://realpython.com/linear-regression-in-python/</a:t>
            </a:r>
            <a:r>
              <a:rPr lang="en-US" dirty="0"/>
              <a:t> </a:t>
            </a:r>
          </a:p>
          <a:p>
            <a:r>
              <a:rPr lang="en-US" dirty="0"/>
              <a:t>Yang, S., Brossard, D., Scheufele, D. A., &amp; Xenos, M. A. (2022). The science of YouTube: What factors influence user engagement with online science videos? </a:t>
            </a:r>
            <a:r>
              <a:rPr lang="en-US" i="1" dirty="0" err="1"/>
              <a:t>Plos</a:t>
            </a:r>
            <a:r>
              <a:rPr lang="en-US" i="1" dirty="0"/>
              <a:t> One</a:t>
            </a:r>
            <a:r>
              <a:rPr lang="en-US" dirty="0"/>
              <a:t>, </a:t>
            </a:r>
            <a:r>
              <a:rPr lang="en-US" i="1" dirty="0"/>
              <a:t>17</a:t>
            </a:r>
            <a:r>
              <a:rPr lang="en-US" dirty="0"/>
              <a:t>(5). </a:t>
            </a:r>
            <a:r>
              <a:rPr lang="en-US" dirty="0">
                <a:hlinkClick r:id="rId7"/>
              </a:rPr>
              <a:t>https://doi.org/10.1371/journal.pone.0267697</a:t>
            </a:r>
            <a:r>
              <a:rPr lang="en-US" dirty="0"/>
              <a:t> </a:t>
            </a:r>
          </a:p>
          <a:p>
            <a:r>
              <a:rPr lang="en-US" dirty="0"/>
              <a:t>Zubair, Md., Iqbal, MD. A., Shil, A., Chowdhury, M. J. M., Moni, M. A., &amp; Sarker, I. H. (2022). An Improved K-means Clustering Algorithm Towards an Efficient Data-Driven Modeling. </a:t>
            </a:r>
            <a:r>
              <a:rPr lang="en-US" i="1" dirty="0"/>
              <a:t>Annals of Data Science</a:t>
            </a:r>
            <a:r>
              <a:rPr lang="en-US" dirty="0"/>
              <a:t>. </a:t>
            </a:r>
            <a:r>
              <a:rPr lang="en-US" dirty="0">
                <a:hlinkClick r:id="rId8"/>
              </a:rPr>
              <a:t>https://doi.org/10.1007/s40745-022-00428-2</a:t>
            </a:r>
            <a:r>
              <a:rPr lang="en-US" dirty="0"/>
              <a:t> </a:t>
            </a:r>
          </a:p>
          <a:p>
            <a:endParaRPr lang="en-US" dirty="0"/>
          </a:p>
        </p:txBody>
      </p:sp>
    </p:spTree>
    <p:extLst>
      <p:ext uri="{BB962C8B-B14F-4D97-AF65-F5344CB8AC3E}">
        <p14:creationId xmlns:p14="http://schemas.microsoft.com/office/powerpoint/2010/main" val="200445554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232</TotalTime>
  <Words>1751</Words>
  <Application>Microsoft Office PowerPoint</Application>
  <PresentationFormat>Widescreen</PresentationFormat>
  <Paragraphs>95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Trebuchet MS</vt:lpstr>
      <vt:lpstr>Wingdings</vt:lpstr>
      <vt:lpstr>Wingdings 3</vt:lpstr>
      <vt:lpstr>Facet</vt:lpstr>
      <vt:lpstr>An Analysis of U.S. YouTube Trending Videos</vt:lpstr>
      <vt:lpstr>Purpose of the Data Analysis</vt:lpstr>
      <vt:lpstr>Data Set Description</vt:lpstr>
      <vt:lpstr>About the Data</vt:lpstr>
      <vt:lpstr>Visualization 1: Scatter Plot</vt:lpstr>
      <vt:lpstr>Visualization 2: Box Plot</vt:lpstr>
      <vt:lpstr>Model 1: Linear Regression</vt:lpstr>
      <vt:lpstr>Model 2: Random Forrest Classifier</vt:lpstr>
      <vt:lpstr>Model 3: K-Means Clustering</vt:lpstr>
      <vt:lpstr>Findings</vt:lpstr>
      <vt:lpstr>Action Steps Based on Findings</vt:lpstr>
      <vt:lpstr>Lessons Learned</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for your Data Analysis Project</dc:title>
  <dc:creator>Jon McKeeby</dc:creator>
  <cp:lastModifiedBy>Mokeeva, Arina</cp:lastModifiedBy>
  <cp:revision>61</cp:revision>
  <dcterms:created xsi:type="dcterms:W3CDTF">2015-08-30T00:29:46Z</dcterms:created>
  <dcterms:modified xsi:type="dcterms:W3CDTF">2026-02-19T22:10:36Z</dcterms:modified>
</cp:coreProperties>
</file>